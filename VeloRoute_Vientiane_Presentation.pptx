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1F5F9"/>
                </a:solidFill>
                <a:latin typeface="Malgun Gothic"/>
              </a:defRPr>
            </a:pPr>
            <a:r>
              <a:t>🇱🇦 벨로루트 비엔티안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468880"/>
            <a:ext cx="987552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0A5FA"/>
                </a:solidFill>
                <a:latin typeface="Arial"/>
              </a:defRPr>
            </a:pPr>
            <a:r>
              <a:t>VeloRoute Vientiane: Monsoon Flood Avoidance &amp; Tuktuk Smart Navigator</a:t>
            </a:r>
          </a:p>
          <a:p>
            <a:br/>
            <a:pPr>
              <a:defRPr sz="1700">
                <a:solidFill>
                  <a:srgbClr val="CBD5E1"/>
                </a:solidFill>
                <a:latin typeface="Malgun Gothic"/>
              </a:defRPr>
            </a:pPr>
            <a:r>
              <a:t>라오스 우기 범람 대응 실시간 침수 회피 및 오토바이/뚝뚝 특화 스마트 내비게이션 &amp; 시뮬레이터</a:t>
            </a:r>
          </a:p>
          <a:p>
            <a:br/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[제출 부문] 해커톤 스마트시티 &amp; 교통 혁신 분야  |  제작자: VeloRoute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1. 기획 배경 및 문제 정의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라오스 비엔티안의 기후적 특성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매년 5월~10월 몬순 우기 동안 집중 폭우와 메콩강 수위 상승으로 도심 저지대 상습 침수 발생.</a:t>
            </a:r>
            <a:br/>
            <a:r>
              <a:t>배수 인프라 부족으로 비포장 도로가 진흙 수렁화되어 오토바이 및 대중교통 흐름 마비.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오토바이 및 뚝뚝(TukTuk)의 취약성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비엔티안 대중교통의 80% 이상을 차지하는 이륜차와 뚝뚝은 승용차에 비해 임계 침수고가 극도로 낮음.</a:t>
            </a:r>
            <a:br/>
            <a:r>
              <a:t>(뚝뚝: 15cm, 오토바이: 22cm 수준에서 시동 꺼짐 및 침수 유실 위험 발생)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기존 내비게이션의 한계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구글 맵 등 기존 내비게이션은 실시간 도로 침수 깊이나 차종별 물리적 임계 수고를 전혀 고려하지 못함.</a:t>
            </a:r>
            <a:br/>
            <a:r>
              <a:t>따라서 홍수 발생 시 차량에 적합한 우회 정보를 주지 못하고 오히려 위험 침수 지역으로 인도하는 문제 존재.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2. 시스템 구조 및 기술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백엔드 (Backend Tech Stack)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Python 3.13 &amp; FastAPI: 고성능 비동기 API 서버 구축</a:t>
            </a:r>
            <a:br/>
            <a:r>
              <a:t>• Dynamic Dijkstra: 실시간 사용자 제보 및 침수 깊이를 반영한 가중치 그래프 우회 연산</a:t>
            </a:r>
            <a:br/>
            <a:r>
              <a:t>• Telemetry Simulator: 실시간 강수량 및 범람 수치 연동 도로 침수 깊이 시뮬레이터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프론트엔드 (Frontend Tech Stack)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React &amp; Vite: 모던 웹 컴포넌트 프레임워크 및 초고속 빌더</a:t>
            </a:r>
            <a:br/>
            <a:r>
              <a:t>• React-Leaflet: CartoDB Dark Matter 기반의 미래지향적 다크 테마 지도 연동</a:t>
            </a:r>
            <a:br/>
            <a:r>
              <a:t>• Lucide React: 고가시성 대시보드 HUD 아이콘 연동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OSRM 엔진 및 라우팅 프로파일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OSRM (Open Source Routing Machine)</a:t>
            </a:r>
            <a:br/>
            <a:r>
              <a:t>• tuktuk.lua 커스텀 프로파일 설계: 뚝뚝의 비포장도로 기피 가중치(6.5배 페널티) 적용</a:t>
            </a:r>
            <a:br/>
            <a:r>
              <a:t>• OSM(OpenStreetMap) 데이터 정적/동적 전처리 파이프라인 수립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시스템 데이터 흐름 (Data Flow)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1. 실시간 기상/수위 센서 데이터 수집 ➔ 2. 도로별 수고 및 범람 침수 계산 ➔ 3. 사용자 위험 제보(사고, 통제 등) 실시간 연동 ➔ 4. 동적 Dijkstra 가중치 우회 연산 ➔ 5. 한국어/라오어 실시간 양방향 다국어 HUD 화면 표출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3. 핵심 수문 및 물리학적 공식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대피 잔여 골든타임 산출 공식 (Evacuation Golden-Time)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t_golden = (d_limit - d_water) / v_rise</a:t>
            </a:r>
            <a:br/>
            <a:r>
              <a:t>• d_limit: 이동 수단별 한계 수위 (tuktuk: 0.15m, motorcycle: 0.22m, car: 0.30m)</a:t>
            </a:r>
            <a:br/>
            <a:r>
              <a:t>• d_water: 현재 도로 침수 높이, v_rise: 실시간 강수 유입에 따른 수위 상승 속도 (m/s)</a:t>
            </a:r>
            <a:br/>
            <a:r>
              <a:t>• 차종별 시동 오프 지연 도달 시간을 동적으로 연산하여 긴급 탈출 잔여 시간 제공.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아르키메데스의 부력 공식 (Buoyancy Force)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Fb = ρ * g * V_sub</a:t>
            </a:r>
            <a:br/>
            <a:r>
              <a:t>• ρ (유체 밀도: 1000kg/m³), g (중력 가속도: 9.8m/s²), V_sub (차량 타이어 및 차체의 침수된 부피)</a:t>
            </a:r>
            <a:br/>
            <a:r>
              <a:t>• 수위가 높아질수록 차량이 받는 상향 부력이 커져 지면이 가하는 수직항력(N = mg - Fb)을 감소시킴.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타이어 접지 마찰 공식 (Grip Force)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f = μ * N = μ * (m * g - Fb)</a:t>
            </a:r>
            <a:br/>
            <a:r>
              <a:t>• μ (타이어-노면 마찰 계수, 수위에 따라 0.65에서 0.05까지 급락)</a:t>
            </a:r>
            <a:br/>
            <a:r>
              <a:t>• 물이 차올라 부력(Fb)이 증가하면 수직항력(N)이 소실되어 접지 마찰력(f)이 0에 수렴하여 유실 유발.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횡류 유체 저항 공식 (Fluid Drag)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Fd = 0.5 * Cd * ρ * A * v²</a:t>
            </a:r>
            <a:br/>
            <a:r>
              <a:t>• Cd (차량 측면 항력 계수), A (측면 투영 면적), v (범람 물살 유속)</a:t>
            </a:r>
            <a:br/>
            <a:r>
              <a:t>• 메콩강 유량 범람 유속에 따른 횡방향 항력을 산출하여 수중 전복 및 하천 유실 한계 속도 계산.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4. 핵심 라우팅 및 물리 엔진 알고리즘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동적 Dijkstra 가중치 라우팅 알고리즘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도로 침수 수치 및 사고/통제 등의 위험 노드를 동적으로 그래프 가중치에 계산.</a:t>
            </a:r>
            <a:br/>
            <a:r>
              <a:t>• Edge Weight = Distance * (1.0 + (WaterDepth / d_limit) * 15.0) + HazardPenalty</a:t>
            </a:r>
            <a:br/>
            <a:r>
              <a:t>• 수위가 임계 수고(d_limit)를 돌파한 도로는 간선을 단절(Weight = Infinity)하여 안전한 대체 경로를 생성하도록 원천 유도.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커뮤니티 장애물 제보 및 우회 시스템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사용자가 직접 노드를 클릭해 '도로침수, 사고발생, 포트홀, 도로통제' 제보.</a:t>
            </a:r>
            <a:br/>
            <a:r>
              <a:t>• 제보가 접수된 도로 구간은 가중치 20배(HazardPenalty)를 부여하여 다른 사용자들이 알아서 즉시 우회(Rerouting)하게끔 가이드.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물리 엔진 연동 실시간 역학 연산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`calculatePhysics(vehicle, maxDepth)` 함수</a:t>
            </a:r>
            <a:br/>
            <a:r>
              <a:t>• 도로 침수 깊이와 차종 데이터(무게, 타이어 치수 등)를 실시간 바인딩하여 부력(Fb), 유체 저항(Fd), 접지력 잔여율(%), 선회 한계 속도 등을 연산해 대시보드 표출.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LUA 기반 비포장도로 Tag 회피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뚝뚝 및 오토바이가 우기 진흙수렁에 빠지는 상황을 대비해 OSRM 엔진 내부에서 `tuktuk.lua` 프로파일로 비포장 속성 도로를 기피하도록 정적 가중치 가중 설계.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5. 직관적인 UI/UX 및 가시성 고도화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글래스모피즘 아크릴 HUD 및 네온 디자인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우측 실시간 내비 피드 위젯에 투명 남색 바탕(`rgba(15, 23, 42, 0.85)`)과 `blur(16px)`를 결합해 시인성 확보.</a:t>
            </a:r>
            <a:br/>
            <a:r>
              <a:t>• 인디고 네온 테두리 및 마우스 호버 시 3D 반응형 모션 적용.</a:t>
            </a:r>
            <a:br/>
            <a:r>
              <a:t>• 안전성 지수 및 한계 수고 비율을 실시간 네온 게이지 바 형태로 시각화하여 정보의 가독성 극대화.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3색 LED 도로 텔레메트리 모니터링 시스템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각 도로의 범람 위험 여부를 3색 LED 표시등(Glow Dot)을 통해 한눈에 감지.</a:t>
            </a:r>
            <a:br/>
            <a:r>
              <a:t>• Dry(초록), Caution(황색 주의), Flooded(빨간색 사이렌 맥박 깜빡임 애니메이션)을 적용해 전시 부스 시인성 확보.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전역 단어 분리 방지(Keep-All) 및 다국어 스위치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`word-break: keep-all; overflow-wrap: break-word;` 규칙을 글로벌 적용하여 한국어/라오어 문장이 중간에 끊기지 않고 어절 단위로 예쁘게 줄바꿈되도록 레이아웃 정돈.</a:t>
            </a:r>
            <a:br/>
            <a:r>
              <a:t>• 🇰🇷 KO / 🇱🇦 LO 양방향 원클릭 스위치로 전체 화면 번역 및 백엔드 한글 코멘트 리스폰스까지 완벽히 라오어로 동적 번역 제공.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6. 체험용 홍보 미니 게임 (Challenge)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VeloRoute Flood Escape Challenge 개요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해커톤 전시 부스에서 관람객들의 참여 및 실시간 안전 우회 가치 체감을 극대화하기 위해 개발된 도전 모드.</a:t>
            </a:r>
            <a:br/>
            <a:r>
              <a:t>• 가상 비엔티안 지도 위에서 방향키 또는 화면 버튼을 이용해 차량(뚝뚝 등)을 운전하여 골든타임 내 대피소로 이동하는 서바이벌 타임어택 미니 게임.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차량 선택 및 침수 충돌 밸런스 설정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뚝뚝(어려움: 한계 15cm, 감속 큼, 점수 2.0배) | 오토바이(보통: 한계 22cm, 점수 1.2배) | 승용차(쉬움: 한계 30cm, 점수 1.0배)</a:t>
            </a:r>
            <a:br/>
            <a:r>
              <a:t>• 실시간 범람 수위Segment 충돌 감지 및 차량 데미지(Health) 감소, 침수 한계 돌파 시 엔진 시동 오프 구현.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웹 오디오 API 신디사이저 및 리더보드 연동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Web Audio API 오디오 합성: 시동음, 긴급 사이렌음, 침수 경고음, 성공 팡파르를 브라우저 내 오디오 모듈로 자동 합성 출력.</a:t>
            </a:r>
            <a:br/>
            <a:r>
              <a:t>• 명예의 전당 랭킹보드: 상위 5인 점수를 로컬 스토리지에 자동 저장/정렬 표출하여 전시 현장의 랭킹 경쟁과 흥행 도모.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VELOROUTE VIENTIANE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9"/>
                </a:solidFill>
                <a:latin typeface="Malgun Gothic"/>
              </a:defRPr>
            </a:pPr>
            <a:r>
              <a:t>7. 프로젝트 기대 효과 및 결론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51D2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스마트 재난 대응 스마트시티 모델 제시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저개발 국가(라오스, 베트남 등)의 범람 위험 지구에 OSRM 라우터와 OGC 표준 데이터가 결합된 비용 효율적이고 즉각 적용 가능한 실시간 스마트시티 범람 우회 교통 통합 솔루션 제안.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공공 가치와 글로벌 포용성 확보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현지 필수 수단인 오토바이/뚝뚝의 침수 한계를 고려한 세계 최초의 차종별 특화 경로 계산.</a:t>
            </a:r>
            <a:br/>
            <a:r>
              <a:t>• 완벽한 라오어/한국어 다국어 스위치 제공으로 다문화권 관광객 및 외국인들의 대피 권리 보장.</a:t>
            </a:r>
          </a:p>
          <a:p>
            <a:pPr>
              <a:spcBef>
                <a:spcPts val="1400"/>
              </a:spcBef>
              <a:defRPr sz="2100" b="1">
                <a:solidFill>
                  <a:srgbClr val="60A5FA"/>
                </a:solidFill>
                <a:latin typeface="Malgun Gothic"/>
              </a:defRPr>
            </a:pPr>
            <a:r>
              <a:t>• 전시 부스 흥행과 완성도</a:t>
            </a:r>
          </a:p>
          <a:p>
            <a:pPr lvl="1">
              <a:spcBef>
                <a:spcPts val="400"/>
              </a:spcBef>
              <a:defRPr sz="1600">
                <a:solidFill>
                  <a:srgbClr val="F1F5F9"/>
                </a:solidFill>
                <a:latin typeface="Malgun Gothic"/>
              </a:defRPr>
            </a:pPr>
            <a:r>
              <a:t>• 네온 그라데이션과 글래스모피즘 아크릴 HUD로 무장한 시각적 완성도.</a:t>
            </a:r>
            <a:br/>
            <a:r>
              <a:t>• 효과음과 리더보드가 통합된 서바이벌 미니 게임으로 전시 부스 흥행성과 직관적인 핵심 가치 인지 성공.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